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6000" b="1">
                <a:solidFill>
                  <a:srgbClr val="202830"/>
                </a:solidFill>
              </a:defRPr>
            </a:pPr>
            <a:r>
              <a:t>☄ METEOR</a:t>
            </a:r>
          </a:p>
          <a:p>
            <a:pPr algn="ctr">
              <a:spcAft>
                <a:spcPts val="1000"/>
              </a:spcAft>
              <a:defRPr sz="2200" b="0">
                <a:solidFill>
                  <a:srgbClr val="606870"/>
                </a:solidFill>
              </a:defRPr>
            </a:pPr>
            <a:r>
              <a:t>Multi-task Estimation of Traffic Elements, Objects &amp; Roads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0E6EB8"/>
                </a:solidFill>
              </a:defRPr>
            </a:pPr>
            <a:r>
              <a:t>From Raw Surround-View Recordings to a Seven-Task Driving Network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0E6EB8"/>
                </a:solidFill>
              </a:defRPr>
            </a:pPr>
            <a:r>
              <a:t>without Human Labels or Human-Written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8463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 b="0">
                <a:solidFill>
                  <a:srgbClr val="202830"/>
                </a:solidFill>
              </a:defRPr>
            </a:pPr>
            <a:r>
              <a:t>Dan Umeda — TIER IV, Inc.</a:t>
            </a:r>
          </a:p>
          <a:p>
            <a:pPr algn="ctr">
              <a:spcAft>
                <a:spcPts val="1000"/>
              </a:spcAft>
              <a:defRPr sz="1500" b="0">
                <a:solidFill>
                  <a:srgbClr val="606870"/>
                </a:solidFill>
              </a:defRPr>
            </a:pPr>
            <a:r>
              <a:t>Built on CoMET, the autolabeling foundation of the Co-MLOps project</a:t>
            </a:r>
          </a:p>
          <a:p>
            <a:pPr algn="ctr">
              <a:spcAft>
                <a:spcPts val="1000"/>
              </a:spcAft>
              <a:defRPr sz="1400" b="0">
                <a:solidFill>
                  <a:srgbClr val="606870"/>
                </a:solidFill>
              </a:defRPr>
            </a:pPr>
            <a:r>
              <a:t>github.com/tier4/METEOR   ·   NVIDIA GTC 2026 (S81897)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2830"/>
                </a:solidFill>
              </a:defRPr>
            </a:pPr>
            <a:r>
              <a:t>The problem: perception is built one labeling campaign at a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Every task needs its own annotation effort — boxes, masks, lanes, occupancy…</a:t>
            </a:r>
          </a:p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Labeling is the dominant cost, and every new task restarts the cycle</a:t>
            </a:r>
          </a:p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Meanwhile, fleets already record everything: 8 cameras + LiDAR + cm-level ego-motion</a:t>
            </a:r>
          </a:p>
          <a:p>
            <a:pPr>
              <a:spcAft>
                <a:spcPts val="600"/>
              </a:spcAft>
              <a:defRPr sz="1400">
                <a:solidFill>
                  <a:srgbClr val="606870"/>
                </a:solidFill>
              </a:defRPr>
            </a:pPr>
            <a:r>
              <a:t>  – these raw recordings implicitly contain almost everything the labels would 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600" b="1">
                <a:solidFill>
                  <a:srgbClr val="0E6EB8"/>
                </a:solidFill>
              </a:defRPr>
            </a:pPr>
            <a:r>
              <a:t>What if we never labeled — and never even wrote the code?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2830"/>
                </a:solidFill>
              </a:defRPr>
            </a:pPr>
            <a:r>
              <a:t>The recipe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6870"/>
                </a:solidFill>
              </a:defRPr>
            </a:pPr>
            <a:r>
              <a:t>Record everything  →  autolabel everything  →  train one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Input: raw Co-MLOps DRS recordings (8 synchronized cameras, LiDAR, ego-pose,</a:t>
            </a:r>
          </a:p>
          <a:p>
            <a:pPr>
              <a:spcAft>
                <a:spcPts val="600"/>
              </a:spcAft>
              <a:defRPr sz="1400">
                <a:solidFill>
                  <a:srgbClr val="606870"/>
                </a:solidFill>
              </a:defRPr>
            </a:pPr>
            <a:r>
              <a:t>  – machine-generated 2D panoptic labels) — https://co-mlops.tier4.jp/</a:t>
            </a:r>
          </a:p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CoMET autolabel foundation → factory distills SEVEN supervision signals, zero humans</a:t>
            </a:r>
          </a:p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One camera-only network learns all seven tasks jointly (no LiDAR at inference)</a:t>
            </a:r>
          </a:p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Hard constraint: TensorRT-safe operators only — deployable as-is</a:t>
            </a:r>
          </a:p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Second constraint (an experiment): all code written by an LLM agent, Claude Fable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2830"/>
                </a:solidFill>
              </a:defRPr>
            </a:pPr>
            <a:r>
              <a:t>Seven tasks, one forward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749808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2926080"/>
                <a:gridCol w="1371600"/>
              </a:tblGrid>
              <a:tr h="29260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830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830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830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830"/>
                          </a:solidFill>
                        </a:defRPr>
                      </a:pPr>
                      <a:r>
                        <a:t>Head cost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BEV lane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9 cls · 160×100 m @0.2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1.2 M / 933 G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Metric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64 bins × 8 cams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3.3 M / 1093 G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3D oriented boxes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vehicles + VRU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0.4 M / 82 G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2D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21 classes × 8 cams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4.2 M / 219 G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2D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10 classes · 3 scales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2.9 M / 219 G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E2E driving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3 s path + steer/accel/brake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4.0 M / 37 G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3D occupancy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10 cls · 16×200×200 @0.4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0.7 M / 55 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210312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202830"/>
                </a:solidFill>
              </a:defRPr>
            </a:pPr>
            <a:r>
              <a:t>38.3 M params</a:t>
            </a:r>
          </a:p>
          <a:p>
            <a:pPr>
              <a:defRPr sz="1800" b="0">
                <a:solidFill>
                  <a:srgbClr val="606870"/>
                </a:solidFill>
              </a:defRPr>
            </a:pPr>
            <a:r>
              <a:t>3.1 TFLOPs @ 8×768×432</a:t>
            </a:r>
          </a:p>
          <a:p>
            <a:pPr>
              <a:defRPr sz="1800" b="1">
                <a:solidFill>
                  <a:srgbClr val="1B7837"/>
                </a:solidFill>
              </a:defRPr>
            </a:pPr>
            <a:r>
              <a:t>adding a task costs &lt; 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2830"/>
                </a:solidFill>
              </a:defRPr>
            </a:pPr>
            <a:r>
              <a:t>The autolabel factory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6870"/>
                </a:solidFill>
              </a:defRPr>
            </a:pPr>
            <a:r>
              <a:t>10 stages per scene · resumable · runs concurrently with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830"/>
                </a:solidFill>
              </a:defRPr>
            </a:pPr>
            <a:r>
              <a:t>• BEV lanes — LiDAR × panoptic accumulated in the map frame → vectorized polylines</a:t>
            </a:r>
          </a:p>
          <a:p>
            <a:pPr>
              <a:spcAft>
                <a:spcPts val="600"/>
              </a:spcAft>
              <a:defRPr sz="1600">
                <a:solidFill>
                  <a:srgbClr val="202830"/>
                </a:solidFill>
              </a:defRPr>
            </a:pPr>
            <a:r>
              <a:t>• Metric depth — LiDAR splats + interpolation inside merged road+paint segments</a:t>
            </a:r>
          </a:p>
          <a:p>
            <a:pPr>
              <a:spcAft>
                <a:spcPts val="600"/>
              </a:spcAft>
              <a:defRPr sz="1600">
                <a:solidFill>
                  <a:srgbClr val="202830"/>
                </a:solidFill>
              </a:defRPr>
            </a:pPr>
            <a:r>
              <a:t>• 3D boxes — LiDAR annotations kept only when geometrically camera-confirmed</a:t>
            </a:r>
          </a:p>
          <a:p>
            <a:pPr>
              <a:spcAft>
                <a:spcPts val="600"/>
              </a:spcAft>
              <a:defRPr sz="1600">
                <a:solidFill>
                  <a:srgbClr val="202830"/>
                </a:solidFill>
              </a:defRPr>
            </a:pPr>
            <a:r>
              <a:t>• 2D seg (21 cls) &amp; 2D boxes (10 cls) — CSV-driven taxonomies from panoptic masks</a:t>
            </a:r>
          </a:p>
          <a:p>
            <a:pPr>
              <a:spcAft>
                <a:spcPts val="600"/>
              </a:spcAft>
              <a:defRPr sz="1600">
                <a:solidFill>
                  <a:srgbClr val="202830"/>
                </a:solidFill>
              </a:defRPr>
            </a:pPr>
            <a:r>
              <a:t>• E2E targets — trajectory / steering / accel / brake from ego-pose alone (no CAN)</a:t>
            </a:r>
          </a:p>
          <a:p>
            <a:pPr>
              <a:spcAft>
                <a:spcPts val="600"/>
              </a:spcAft>
              <a:defRPr sz="1600">
                <a:solidFill>
                  <a:srgbClr val="202830"/>
                </a:solidFill>
              </a:defRPr>
            </a:pPr>
            <a:r>
              <a:t>• 3D occupancy — multi-sweep labeled LiDAR + ray-carved free space</a:t>
            </a:r>
          </a:p>
          <a:p>
            <a:pPr>
              <a:spcAft>
                <a:spcPts val="600"/>
              </a:spcAft>
              <a:defRPr sz="1300">
                <a:solidFill>
                  <a:srgbClr val="606870"/>
                </a:solidFill>
              </a:defRPr>
            </a:pPr>
            <a:r>
              <a:t>  – quality gates: scene-end trim · stationary-spot filter · indoor rejection · intersection guard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2830"/>
                </a:solidFill>
              </a:defRPr>
            </a:pPr>
            <a:r>
              <a:t>Ground truth, entirely machine-made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ual_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7863840" cy="4423410"/>
          </a:xfrm>
          <a:prstGeom prst="rect">
            <a:avLst/>
          </a:prstGeom>
        </p:spPr>
      </p:pic>
      <p:pic>
        <p:nvPicPr>
          <p:cNvPr id="5" name="Picture 4" descr="qual_occg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7863840" cy="44234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20116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1B7837"/>
                </a:solidFill>
              </a:defRPr>
            </a:pPr>
            <a:r>
              <a:t>✓ 21-class 2D seg</a:t>
            </a:r>
          </a:p>
          <a:p>
            <a:pPr>
              <a:defRPr sz="1600">
                <a:solidFill>
                  <a:srgbClr val="1B7837"/>
                </a:solidFill>
              </a:defRPr>
            </a:pPr>
            <a:r>
              <a:t>✓ 10-class 2D boxes</a:t>
            </a:r>
          </a:p>
          <a:p>
            <a:pPr>
              <a:defRPr sz="1600">
                <a:solidFill>
                  <a:srgbClr val="1B7837"/>
                </a:solidFill>
              </a:defRPr>
            </a:pPr>
            <a:r>
              <a:t>✓ oriented 3D boxes</a:t>
            </a:r>
          </a:p>
          <a:p>
            <a:pPr>
              <a:defRPr sz="1600">
                <a:solidFill>
                  <a:srgbClr val="1B7837"/>
                </a:solidFill>
              </a:defRPr>
            </a:pPr>
            <a:r>
              <a:t>✓ BEV lanes</a:t>
            </a:r>
          </a:p>
          <a:p>
            <a:pPr>
              <a:defRPr sz="1600">
                <a:solidFill>
                  <a:srgbClr val="1B7837"/>
                </a:solidFill>
              </a:defRPr>
            </a:pPr>
            <a:r>
              <a:t>✓ E2E trajectory + controls</a:t>
            </a:r>
          </a:p>
          <a:p>
            <a:pPr>
              <a:defRPr sz="1600">
                <a:solidFill>
                  <a:srgbClr val="1B7837"/>
                </a:solidFill>
              </a:defRPr>
            </a:pPr>
            <a:r>
              <a:t>✓ 3D occupancy (top + iso)</a:t>
            </a:r>
          </a:p>
          <a:p>
            <a:pPr>
              <a:defRPr sz="1800" b="1">
                <a:solidFill>
                  <a:srgbClr val="202830"/>
                </a:solidFill>
              </a:defRPr>
            </a:pPr>
            <a:r>
              <a:t>0 boxes drawn by humans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2830"/>
                </a:solidFill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55680" cy="54126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2830"/>
                </a:solidFill>
              </a:defRPr>
            </a:pPr>
            <a:r>
              <a:t>Depth-gated IPM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6870"/>
                </a:solidFill>
              </a:defRPr>
            </a:pPr>
            <a:r>
              <a:t>depth as a visibility valve for geometric projection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Project BEV ground points into every camera with calibrated K/T</a:t>
            </a:r>
          </a:p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grid_sample context features and the predicted depth distribution</a:t>
            </a:r>
          </a:p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gather the depth probability at each point's true range:</a:t>
            </a:r>
          </a:p>
          <a:p>
            <a:pPr>
              <a:spcAft>
                <a:spcPts val="600"/>
              </a:spcAft>
              <a:defRPr sz="1400">
                <a:solidFill>
                  <a:srgbClr val="606870"/>
                </a:solidFill>
              </a:defRPr>
            </a:pPr>
            <a:r>
              <a:t>  – w = P(depth = range) + 0.05   →   features flow only where depth agrees</a:t>
            </a:r>
          </a:p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Weighted average over 8 cameras → 96-ch BEV feature (800×500 @ 0.2 m)</a:t>
            </a:r>
          </a:p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Parameter-free · pull-based (LSS inverted: gather, not scatter) · no attention</a:t>
            </a:r>
          </a:p>
          <a:p>
            <a:pPr>
              <a:spcAft>
                <a:spcPts val="600"/>
              </a:spcAft>
              <a:defRPr sz="1400">
                <a:solidFill>
                  <a:srgbClr val="606870"/>
                </a:solidFill>
              </a:defRPr>
            </a:pPr>
            <a:r>
              <a:t>  – suppresses occlusion bleed-through that plagues plain IPM; exports to TensorRT unchanged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2830"/>
                </a:solidFill>
              </a:defRPr>
            </a:pPr>
            <a:r>
              <a:t>Design rule: parameters at low resolution, compute at high resolution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Naive stride-4 conv heads = worst FLOPs/params corner</a:t>
            </a:r>
          </a:p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2D heads redesigned: heavy channels at s8/s16, 1×1 laterals touch s4</a:t>
            </a:r>
          </a:p>
          <a:p>
            <a:pPr>
              <a:spcAft>
                <a:spcPts val="600"/>
              </a:spcAft>
              <a:defRPr sz="1400">
                <a:solidFill>
                  <a:srgbClr val="606870"/>
                </a:solidFill>
              </a:defRPr>
            </a:pPr>
            <a:r>
              <a:t>  – 18× more parameters for ~2× FLOPs</a:t>
            </a:r>
          </a:p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Result (one round): 2D-seg mIoU 0.375 → 0.451, pole IoU 0.244 → 0.449</a:t>
            </a:r>
          </a:p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3-scale detection (YOLO-style size assignment) turned on small classes:</a:t>
            </a:r>
          </a:p>
          <a:p>
            <a:pPr>
              <a:spcAft>
                <a:spcPts val="600"/>
              </a:spcAft>
              <a:defRPr sz="1400">
                <a:solidFill>
                  <a:srgbClr val="606870"/>
                </a:solidFill>
              </a:defRPr>
            </a:pPr>
            <a:r>
              <a:t>  – traffic lights, distant signs, cones — previously never fired</a:t>
            </a:r>
          </a:p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Model total: +37% params for +10% FLOPs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2830"/>
                </a:solidFill>
              </a:defRPr>
            </a:pPr>
            <a:r>
              <a:t>Rolling rounds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6870"/>
                </a:solidFill>
              </a:defRPr>
            </a:pPr>
            <a:r>
              <a:t>conversion, GT refinement and training run concurrently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822960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4754880"/>
                <a:gridCol w="1463040"/>
              </a:tblGrid>
              <a:tr h="29260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830"/>
                          </a:solidFill>
                        </a:defRPr>
                      </a:pPr>
                      <a:r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830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830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830"/>
                          </a:solidFill>
                        </a:defRPr>
                      </a:pPr>
                      <a:r>
                        <a:t>BEV mIoU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07-11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4-task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0.283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07-12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+ new-vehicle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0.286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07-12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+ 2D detection (v17)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0.286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r7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07-12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+ E2E head (v18)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0.287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07-12→13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capacity re-balance (v19)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0.292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r9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07-13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+ occupancy, curve-weighted E2E (v20)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0.290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07-13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small-object / near-VRU / side-cam weights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running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235440" y="237744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 b="1">
                <a:solidFill>
                  <a:srgbClr val="202830"/>
                </a:solidFill>
              </a:defRPr>
            </a:pPr>
            <a:r>
              <a:t>9 rounds</a:t>
            </a:r>
          </a:p>
          <a:p>
            <a:pPr>
              <a:defRPr sz="2600" b="1">
                <a:solidFill>
                  <a:srgbClr val="202830"/>
                </a:solidFill>
              </a:defRPr>
            </a:pPr>
            <a:r>
              <a:t>4 new heads</a:t>
            </a:r>
          </a:p>
          <a:p>
            <a:pPr>
              <a:defRPr sz="2600" b="1">
                <a:solidFill>
                  <a:srgbClr val="0E6EB8"/>
                </a:solidFill>
              </a:defRPr>
            </a:pPr>
            <a:r>
              <a:t>3 days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2830"/>
                </a:solidFill>
              </a:defRPr>
            </a:pPr>
            <a:r>
              <a:t>Fix what you can measure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6870"/>
                </a:solidFill>
              </a:defRPr>
            </a:pPr>
            <a:r>
              <a:t>every loss correction started as a quantified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E2E learned to go straight: 83% of frames near-straight, lon/lat scale 18×</a:t>
            </a:r>
          </a:p>
          <a:p>
            <a:pPr>
              <a:spcAft>
                <a:spcPts val="600"/>
              </a:spcAft>
              <a:defRPr sz="1400">
                <a:solidFill>
                  <a:srgbClr val="606870"/>
                </a:solidFill>
              </a:defRPr>
            </a:pPr>
            <a:r>
              <a:t>  – curve ADE 2.29 m vs 0.62 m straight — invisible in aggregate ADE</a:t>
            </a:r>
          </a:p>
          <a:p>
            <a:pPr>
              <a:spcAft>
                <a:spcPts val="600"/>
              </a:spcAft>
              <a:defRPr sz="1400">
                <a:solidFill>
                  <a:srgbClr val="606870"/>
                </a:solidFill>
              </a:defRPr>
            </a:pPr>
            <a:r>
              <a:t>  – fix: lateral L1 ×4 + curvature sample weight  →  curve ADE 2.31 → 1.07 → 0.72 m</a:t>
            </a:r>
          </a:p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Thin classes vanished from GT: lane line ≈ 0.3 px after 4× downsample</a:t>
            </a:r>
          </a:p>
          <a:p>
            <a:pPr>
              <a:spcAft>
                <a:spcPts val="600"/>
              </a:spcAft>
              <a:defRPr sz="1400">
                <a:solidFill>
                  <a:srgbClr val="606870"/>
                </a:solidFill>
              </a:defRPr>
            </a:pPr>
            <a:r>
              <a:t>  – fix: coverage-based rasterisation (+49% lane pixels, connected dashes)</a:t>
            </a:r>
          </a:p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Small objects silently truncated: box budget 32 dropped 29% of annotations</a:t>
            </a:r>
          </a:p>
          <a:p>
            <a:pPr>
              <a:spcAft>
                <a:spcPts val="600"/>
              </a:spcAft>
              <a:defRPr sz="1400">
                <a:solidFill>
                  <a:srgbClr val="606870"/>
                </a:solidFill>
              </a:defRPr>
            </a:pPr>
            <a:r>
              <a:t>  – fix: budget 96 + per-class positive weights → cones / lights / unknowns detected</a:t>
            </a:r>
          </a:p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NaN-safe aux losses: all-ignore batches return a graph-preserving zero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2830"/>
                </a:solidFill>
              </a:defRPr>
            </a:pPr>
            <a: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6870"/>
                </a:solidFill>
              </a:defRPr>
            </a:pPr>
            <a:r>
              <a:t>held-out recording · zero human labels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512064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737360"/>
              </a:tblGrid>
              <a:tr h="29260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02830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02830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830"/>
                          </a:solidFill>
                        </a:defRPr>
                      </a:pPr>
                      <a:r>
                        <a:t>BEV lane mIoU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830"/>
                          </a:solidFill>
                        </a:defRPr>
                      </a:pPr>
                      <a:r>
                        <a:t>0.292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830"/>
                          </a:solidFill>
                        </a:defRPr>
                      </a:pPr>
                      <a:r>
                        <a:t>2D segmentation mIoU (21 cls)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830"/>
                          </a:solidFill>
                        </a:defRPr>
                      </a:pPr>
                      <a:r>
                        <a:t>0.451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830"/>
                          </a:solidFill>
                        </a:defRPr>
                      </a:pPr>
                      <a:r>
                        <a:t>Depth MAE (0–80 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830"/>
                          </a:solidFill>
                        </a:defRPr>
                      </a:pPr>
                      <a:r>
                        <a:t>1.60 m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830"/>
                          </a:solidFill>
                        </a:defRPr>
                      </a:pPr>
                      <a:r>
                        <a:t>E2E ADE / FDE (3 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830"/>
                          </a:solidFill>
                        </a:defRPr>
                      </a:pPr>
                      <a:r>
                        <a:t>0.76 / 1.65 m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830"/>
                          </a:solidFill>
                        </a:defRPr>
                      </a:pPr>
                      <a:r>
                        <a:t>E2E curve ADE (|lat|&gt;2 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830"/>
                          </a:solidFill>
                        </a:defRPr>
                      </a:pPr>
                      <a:r>
                        <a:t>0.72 m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830"/>
                          </a:solidFill>
                        </a:defRPr>
                      </a:pPr>
                      <a:r>
                        <a:t>Steering MAE / brake 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830"/>
                          </a:solidFill>
                        </a:defRPr>
                      </a:pPr>
                      <a:r>
                        <a:t>0.027 rad / 0.81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830"/>
                          </a:solidFill>
                        </a:defRPr>
                      </a:pPr>
                      <a:r>
                        <a:t>Occupancy road IoU (0–40 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830"/>
                          </a:solidFill>
                        </a:defRPr>
                      </a:pPr>
                      <a:r>
                        <a:t>0.63–0.64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qual_in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54480"/>
            <a:ext cx="5760720" cy="32404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2830"/>
                </a:solidFill>
              </a:defRPr>
            </a:pPr>
            <a:r>
              <a:t>Zero human-written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6870"/>
                </a:solidFill>
              </a:defRPr>
            </a:pPr>
            <a:r>
              <a:t>the second automation axis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Every artefact — 10 GT extractors, 20 model variants, trainer, demos, docs,</a:t>
            </a:r>
          </a:p>
          <a:p>
            <a:pPr>
              <a:spcAft>
                <a:spcPts val="600"/>
              </a:spcAft>
              <a:defRPr sz="1400">
                <a:solidFill>
                  <a:srgbClr val="606870"/>
                </a:solidFill>
              </a:defRPr>
            </a:pPr>
            <a:r>
              <a:t>  – the paper, this deck — written by Claude Fable 5 (Anthropic), autonomously</a:t>
            </a:r>
          </a:p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Humans: ~70 natural-language instructions + review of videos &amp; metrics</a:t>
            </a:r>
          </a:p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Agent: design, implementation, launches, monitoring, diagnosis, iteration</a:t>
            </a:r>
          </a:p>
          <a:p>
            <a:pPr>
              <a:spcAft>
                <a:spcPts val="600"/>
              </a:spcAft>
              <a:defRPr sz="1400">
                <a:solidFill>
                  <a:srgbClr val="606870"/>
                </a:solidFill>
              </a:defRPr>
            </a:pPr>
            <a:r>
              <a:t>  – several fixes originated from the agent's own measurements (e.g. box-budget analysis)</a:t>
            </a:r>
          </a:p>
          <a:p>
            <a:pPr>
              <a:spcAft>
                <a:spcPts val="600"/>
              </a:spcAft>
              <a:defRPr sz="1700">
                <a:solidFill>
                  <a:srgbClr val="202830"/>
                </a:solidFill>
              </a:defRPr>
            </a:pPr>
            <a:r>
              <a:t>• Division of labour: humans specify WHAT · the agent implements and explains HOW</a:t>
            </a:r>
          </a:p>
          <a:p>
            <a:pPr>
              <a:spcAft>
                <a:spcPts val="600"/>
              </a:spcAft>
              <a:defRPr sz="1400">
                <a:solidFill>
                  <a:srgbClr val="606870"/>
                </a:solidFill>
              </a:defRPr>
            </a:pPr>
            <a:r>
              <a:t>  – cadence: nine training rounds and four new task heads in three days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2830"/>
                </a:solidFill>
              </a:defRPr>
            </a:pPr>
            <a:r>
              <a:t>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02830"/>
                </a:solidFill>
              </a:defRPr>
            </a:pPr>
            <a:r>
              <a:t>• Fleet recordings already contain the labels — a factory can extract all of them</a:t>
            </a:r>
          </a:p>
          <a:p>
            <a:pPr>
              <a:spcAft>
                <a:spcPts val="600"/>
              </a:spcAft>
              <a:defRPr sz="1800">
                <a:solidFill>
                  <a:srgbClr val="202830"/>
                </a:solidFill>
              </a:defRPr>
            </a:pPr>
            <a:r>
              <a:t>• One shared BEV representation carries seven tasks; new tasks cost &lt;5%</a:t>
            </a:r>
          </a:p>
          <a:p>
            <a:pPr>
              <a:spcAft>
                <a:spcPts val="600"/>
              </a:spcAft>
              <a:defRPr sz="1800">
                <a:solidFill>
                  <a:srgbClr val="202830"/>
                </a:solidFill>
              </a:defRPr>
            </a:pPr>
            <a:r>
              <a:t>• Deployment constraints (TensorRT ops) and capacity rules are design inputs, not afterthoughts</a:t>
            </a:r>
          </a:p>
          <a:p>
            <a:pPr>
              <a:spcAft>
                <a:spcPts val="600"/>
              </a:spcAft>
              <a:defRPr sz="1800">
                <a:solidFill>
                  <a:srgbClr val="202830"/>
                </a:solidFill>
              </a:defRPr>
            </a:pPr>
            <a:r>
              <a:t>• Measure per-condition (curves, ranges, classes) — aggregates hide the failures that matter</a:t>
            </a:r>
          </a:p>
          <a:p>
            <a:pPr>
              <a:spcAft>
                <a:spcPts val="600"/>
              </a:spcAft>
              <a:defRPr sz="1800">
                <a:solidFill>
                  <a:srgbClr val="202830"/>
                </a:solidFill>
              </a:defRPr>
            </a:pPr>
            <a:r>
              <a:t>• LLM agents can own the full engineering loop when the metrics are automated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200" b="1">
                <a:solidFill>
                  <a:srgbClr val="0E6EB8"/>
                </a:solidFill>
              </a:defRPr>
            </a:pPr>
            <a:r>
              <a:t>a task used to cost a labeling campaign — now it costs a prompt and a GPU-day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800" b="1">
                <a:solidFill>
                  <a:srgbClr val="202830"/>
                </a:solidFill>
              </a:defRPr>
            </a:pPr>
            <a:r>
              <a:t>☄ METEOR</a:t>
            </a:r>
          </a:p>
          <a:p>
            <a:pPr algn="ctr">
              <a:spcAft>
                <a:spcPts val="1000"/>
              </a:spcAft>
              <a:defRPr sz="2400" b="0">
                <a:solidFill>
                  <a:srgbClr val="0E6EB8"/>
                </a:solidFill>
              </a:defRPr>
            </a:pPr>
            <a:r>
              <a:t>github.com/tier4/METEOR</a:t>
            </a:r>
          </a:p>
          <a:p>
            <a:pPr algn="ctr">
              <a:spcAft>
                <a:spcPts val="1000"/>
              </a:spcAft>
              <a:defRPr sz="1600" b="0">
                <a:solidFill>
                  <a:srgbClr val="606870"/>
                </a:solidFill>
              </a:defRPr>
            </a:pPr>
            <a:r>
              <a:t>paper · code · docs · demo videos — all in the repository</a:t>
            </a:r>
          </a:p>
          <a:p>
            <a:pPr algn="ctr">
              <a:spcAft>
                <a:spcPts val="1000"/>
              </a:spcAft>
              <a:defRPr sz="800" b="0">
                <a:solidFill>
                  <a:srgbClr val="606870"/>
                </a:solidFill>
              </a:defRPr>
            </a:pPr>
          </a:p>
          <a:p>
            <a:pPr algn="ctr">
              <a:spcAft>
                <a:spcPts val="1000"/>
              </a:spcAft>
              <a:defRPr sz="1600" b="0">
                <a:solidFill>
                  <a:srgbClr val="606870"/>
                </a:solidFill>
              </a:defRPr>
            </a:pPr>
            <a:r>
              <a:t>Co-MLOps: https://co-mlops.tier4.jp/</a:t>
            </a:r>
          </a:p>
          <a:p>
            <a:pPr algn="ctr">
              <a:spcAft>
                <a:spcPts val="1000"/>
              </a:spcAft>
              <a:defRPr sz="1600" b="0">
                <a:solidFill>
                  <a:srgbClr val="606870"/>
                </a:solidFill>
              </a:defRPr>
            </a:pPr>
            <a:r>
              <a:t>NVIDIA GTC 2026 session S81897</a:t>
            </a:r>
          </a:p>
          <a:p>
            <a:pPr algn="ctr">
              <a:spcAft>
                <a:spcPts val="1000"/>
              </a:spcAft>
              <a:defRPr sz="800" b="0">
                <a:solidFill>
                  <a:srgbClr val="606870"/>
                </a:solidFill>
              </a:defRPr>
            </a:pPr>
          </a:p>
          <a:p>
            <a:pPr algn="ctr">
              <a:spcAft>
                <a:spcPts val="1000"/>
              </a:spcAft>
              <a:defRPr sz="1800" b="1">
                <a:solidFill>
                  <a:srgbClr val="1B7837"/>
                </a:solidFill>
              </a:defRPr>
            </a:pPr>
            <a:r>
              <a:t>Labels by machines. Code by Claude Fable 5. Direction by humans.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