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000" b="1">
                <a:solidFill>
                  <a:srgbClr val="202830"/>
                </a:solidFill>
              </a:defRPr>
            </a:pPr>
            <a:r>
              <a:t>☄ METEOR — Optimization Log</a:t>
            </a:r>
          </a:p>
          <a:p>
            <a:pPr algn="ctr">
              <a:spcAft>
                <a:spcPts val="1000"/>
              </a:spcAft>
              <a:defRPr sz="2200" b="0">
                <a:solidFill>
                  <a:srgbClr val="606870"/>
                </a:solidFill>
              </a:defRPr>
            </a:pPr>
            <a:r>
              <a:t>Every improvement started as a measured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0E6EB8"/>
                </a:solidFill>
              </a:defRPr>
            </a:pPr>
            <a:r>
              <a:t>12 rounds · 4 new task heads · temporal fusion — in one week</a:t>
            </a:r>
          </a:p>
          <a:p>
            <a:pPr algn="ctr">
              <a:spcAft>
                <a:spcPts val="1000"/>
              </a:spcAft>
              <a:defRPr sz="1400" b="0">
                <a:solidFill>
                  <a:srgbClr val="606870"/>
                </a:solidFill>
              </a:defRPr>
            </a:pPr>
            <a:r>
              <a:t>Dan Umeda — TIER IV, Inc.   ·   built on CoMET / Co-MLOps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The improvement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each round diagnosed one weakness and fixed it, warm-starting the next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06070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4572000"/>
                <a:gridCol w="2377440"/>
                <a:gridCol w="201168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830"/>
                          </a:solidFill>
                        </a:defRPr>
                      </a:pPr>
                      <a:r>
                        <a:t>Round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830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830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830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02830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+ 10-class 2D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BEV mIoU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lane / ego-vehicle GT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2D-seg lane 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+ E2E driving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traj 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0.95 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head capacity re-balance + KMAX 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BEV mIoU / 2D-seg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0.293 / 0.450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+ occupancy, E2E curvature 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curve 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2.31 → 0.72 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small-object / near-VRU / side-cam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2D-seg 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0.548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+ one-shot agent trajectory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agent 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2.17 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temporal BEV fusion (streaming, TRT-safe)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curve ADE (ep0)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02830"/>
                          </a:solidFill>
                        </a:defRPr>
                      </a:pPr>
                      <a:r>
                        <a:t>2.28 → 1.91 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06870"/>
                </a:solidFill>
              </a:defRPr>
            </a:pPr>
            <a:r>
              <a:t>warm-started throughout — a class-count change retrains only the affected head; nothing restarts from scratch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① Head capacity: parameters at low resolution, compute at high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symptom — 2D heads were 'high FLOPs, low params': the worst trade-off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182880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PROBLEM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3×3 convs at stride-4 (full res)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weak 2D seg (mIoU 0.362) and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small classes never 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657600" cy="182880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0E6EB8"/>
                </a:solidFill>
              </a:defRPr>
            </a:pPr>
            <a:r>
              <a:t>FIX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encoder–decoder seg head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(heavy channels at s8/s16)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3-scale YOLO-style detection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1×1 laterals only at s4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566160" cy="182880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B7837"/>
                </a:solidFill>
              </a:defRPr>
            </a:pPr>
            <a:r>
              <a:t>EFFECT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2D-seg mIoU 0.362 → 0.450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pole IoU 0.251 → 0.449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+18× params for +2× FLOPs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model +37% params / +10% FLOPs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Design rule: put channels where pixels are cheap (s8/s16), touch full resolution only through 1×1</a:t>
            </a:r>
          </a:p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Traffic lights, distant signs and cones — previously silent classes — began firing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② Small objects were silently deleted by the GT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symptom — cones / traffic lights / distant unknowns almost never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Root cause 1 — box budget truncation</a:t>
            </a:r>
          </a:p>
          <a:p>
            <a:pPr>
              <a:spcAft>
                <a:spcPts val="600"/>
              </a:spcAft>
              <a:defRPr sz="1300" b="0">
                <a:solidFill>
                  <a:srgbClr val="202830"/>
                </a:solidFill>
              </a:defRPr>
            </a:pPr>
            <a:r>
              <a:t>   – per-camera cap of 32, area-sorted → dropped 29% of annotations in crowded scenes (all small)</a:t>
            </a:r>
          </a:p>
          <a:p>
            <a:pPr>
              <a:spcAft>
                <a:spcPts val="600"/>
              </a:spcAft>
              <a:defRPr sz="1300" b="0">
                <a:solidFill>
                  <a:srgbClr val="1B7837"/>
                </a:solidFill>
              </a:defRPr>
            </a:pPr>
            <a:r>
              <a:t>   – fix: KMAX 32 → 96  +  per-class positive weights (obstacle ×3, two-wheeler/light ×2)</a:t>
            </a:r>
          </a:p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Root cause 2 — thin classes vanish on downsample</a:t>
            </a:r>
          </a:p>
          <a:p>
            <a:pPr>
              <a:spcAft>
                <a:spcPts val="600"/>
              </a:spcAft>
              <a:defRPr sz="1300" b="0">
                <a:solidFill>
                  <a:srgbClr val="202830"/>
                </a:solidFill>
              </a:defRPr>
            </a:pPr>
            <a:r>
              <a:t>   – a lane line is ~0.3 px wide at stride-4 GT; nearest-neighbour resize deletes it</a:t>
            </a:r>
          </a:p>
          <a:p>
            <a:pPr>
              <a:spcAft>
                <a:spcPts val="600"/>
              </a:spcAft>
              <a:defRPr sz="1300" b="0">
                <a:solidFill>
                  <a:srgbClr val="1B7837"/>
                </a:solidFill>
              </a:defRPr>
            </a:pPr>
            <a:r>
              <a:t>   – fix: coverage-based rasterisation (cell = thin class if &gt;12% covered)  →  +49% lane pixels</a:t>
            </a:r>
          </a:p>
          <a:p>
            <a:pPr>
              <a:spcAft>
                <a:spcPts val="600"/>
              </a:spcAft>
              <a:defRPr sz="1700" b="1">
                <a:solidFill>
                  <a:srgbClr val="202830"/>
                </a:solidFill>
              </a:defRPr>
            </a:pPr>
            <a:r>
              <a:t>• Effect: 2D-seg lane IoU 0.371 → 0.548; obstacle / light / sign classes detected in demos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③ The E2E head learned to 'always go straight'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symptom — planning looked fine on average, failed on every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57600" cy="210312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B97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B9770E"/>
                </a:solidFill>
              </a:defRPr>
            </a:pPr>
            <a:r>
              <a:t>DIAGNOSIS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83% of frames are near-straight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longitudinal targets ~18× larger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than lateral → plain L1 ignores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steering signal</a:t>
            </a:r>
          </a:p>
          <a:p>
            <a:pPr>
              <a:spcBef>
                <a:spcPts val="200"/>
              </a:spcBef>
              <a:defRPr sz="1100">
                <a:solidFill>
                  <a:srgbClr val="C0392B"/>
                </a:solidFill>
              </a:defRPr>
            </a:pPr>
            <a:r>
              <a:t>aggregate ADE 0.86 m HID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657600" cy="210312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0E6EB8"/>
                </a:solidFill>
              </a:defRPr>
            </a:pPr>
            <a:r>
              <a:t>FIX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lateral error weight ×4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per-sample curve weight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1 + |lat@3s| / 1.5  (up to ×5)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new metric: curve-only ADEc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reported every epoch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63040"/>
            <a:ext cx="3520440" cy="210312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B7837"/>
                </a:solidFill>
              </a:defRPr>
            </a:pPr>
            <a:r>
              <a:t>EFFECT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curve ADE 2.31 m (start)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→ 1.07 m (1 round)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→ 0.72 m (2 rounds)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straight frames unchanged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(0.62 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2830"/>
                </a:solidFill>
              </a:defRPr>
            </a:pPr>
            <a:r>
              <a:t>• Lesson: measure per-condition. The failure was invisible until we conditioned the metric on curvature.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④ Ground-truth bugs found by watching the demos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Scene-tail speed bug</a:t>
            </a:r>
          </a:p>
          <a:p>
            <a:pPr>
              <a:spcAft>
                <a:spcPts val="600"/>
              </a:spcAft>
              <a:defRPr sz="1200" b="0">
                <a:solidFill>
                  <a:srgbClr val="202830"/>
                </a:solidFill>
              </a:defRPr>
            </a:pPr>
            <a:r>
              <a:t>   – instantaneous v0 left at 0 past the 3 s-future cutoff → model, conditioned on a bogus 0, predicted</a:t>
            </a:r>
          </a:p>
          <a:p>
            <a:pPr>
              <a:spcAft>
                <a:spcPts val="600"/>
              </a:spcAft>
              <a:defRPr sz="1200" b="0">
                <a:solidFill>
                  <a:srgbClr val="1B7837"/>
                </a:solidFill>
              </a:defRPr>
            </a:pPr>
            <a:r>
              <a:t>   – 'HOLD' at 80 km/h. Fix: write v0/steer/accel for every frame; only trajectory carries a validity mask</a:t>
            </a:r>
          </a:p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Ego-vehicle unsupervised</a:t>
            </a:r>
          </a:p>
          <a:p>
            <a:pPr>
              <a:spcAft>
                <a:spcPts val="600"/>
              </a:spcAft>
              <a:defRPr sz="1200" b="0">
                <a:solidFill>
                  <a:srgbClr val="1B7837"/>
                </a:solidFill>
              </a:defRPr>
            </a:pPr>
            <a:r>
              <a:t>   – the hood was 'ignore' → free-running noise. Fix: supervise ego as background → clean hood region</a:t>
            </a:r>
          </a:p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Best-checkpoint criterion</a:t>
            </a:r>
          </a:p>
          <a:p>
            <a:pPr>
              <a:spcAft>
                <a:spcPts val="600"/>
              </a:spcAft>
              <a:defRPr sz="1200" b="0">
                <a:solidFill>
                  <a:srgbClr val="1B7837"/>
                </a:solidFill>
              </a:defRPr>
            </a:pPr>
            <a:r>
              <a:t>   – 'best' was BEV-mIoU only → a pre-curve-fix epoch got inherited. Fix: composite score (mIoU − 0.01·ADEc)</a:t>
            </a:r>
          </a:p>
          <a:p>
            <a:pPr>
              <a:spcAft>
                <a:spcPts val="600"/>
              </a:spcAft>
              <a:defRPr sz="1800" b="1">
                <a:solidFill>
                  <a:srgbClr val="202830"/>
                </a:solidFill>
              </a:defRPr>
            </a:pPr>
            <a:r>
              <a:t>• Occupancy hallucination</a:t>
            </a:r>
          </a:p>
          <a:p>
            <a:pPr>
              <a:spcAft>
                <a:spcPts val="600"/>
              </a:spcAft>
              <a:defRPr sz="1200" b="0">
                <a:solidFill>
                  <a:srgbClr val="202830"/>
                </a:solidFill>
              </a:defRPr>
            </a:pPr>
            <a:r>
              <a:t>   – coarse 1.7 m ray-carving left above-road voxels 'unknown' → confident phantom structure.</a:t>
            </a:r>
          </a:p>
          <a:p>
            <a:pPr>
              <a:spcAft>
                <a:spcPts val="600"/>
              </a:spcAft>
              <a:defRPr sz="1200" b="0">
                <a:solidFill>
                  <a:srgbClr val="1B7837"/>
                </a:solidFill>
              </a:defRPr>
            </a:pPr>
            <a:r>
              <a:t>   – Fix: 0.4 m dense carving + per-class confidence gates in visualisation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⑤ Two new tasks added at negligible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310896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0E6EB8"/>
                </a:solidFill>
              </a:defRPr>
            </a:pPr>
            <a:r>
              <a:t>3D semantic occupancy  (v20)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10-class voxels, 16 × 200 × 200 @ 0.4 m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GT: multi-sweep labeled LiDAR (sampled from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cached 2D-seg, no RLE decode — 690→45 s/scene)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dynamic-object de-smearing (±1 frame only)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0.4 m ray-carved free space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cost: +0.70 M params / +55 GFLOPs (2%)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94960" cy="3108960"/>
          </a:xfrm>
          <a:prstGeom prst="roundRect">
            <a:avLst/>
          </a:prstGeom>
          <a:solidFill>
            <a:srgbClr val="F2F4F6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0E6EB8"/>
                </a:solidFill>
              </a:defRPr>
            </a:pPr>
            <a:r>
              <a:t>One-shot agent forecasting  (v21)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per-detection future offsets, 6 × 0.5 s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constant cost in the number of agents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(dense regression on the detection grid)</a:t>
            </a:r>
          </a:p>
          <a:p>
            <a:pPr>
              <a:spcBef>
                <a:spcPts val="200"/>
              </a:spcBef>
              <a:defRPr sz="1100">
                <a:solidFill>
                  <a:srgbClr val="606870"/>
                </a:solidFill>
              </a:defRPr>
            </a:pPr>
            <a:r>
              <a:t>GT: instance_token tracks → current ego frame</a:t>
            </a:r>
          </a:p>
          <a:p>
            <a:pPr>
              <a:spcBef>
                <a:spcPts val="200"/>
              </a:spcBef>
              <a:defRPr sz="1100">
                <a:solidFill>
                  <a:srgbClr val="202830"/>
                </a:solidFill>
              </a:defRPr>
            </a:pPr>
            <a:r>
              <a:t>agent ADE 2.17 m (single frame)</a:t>
            </a:r>
          </a:p>
          <a:p>
            <a:pPr>
              <a:spcBef>
                <a:spcPts val="200"/>
              </a:spcBef>
              <a:defRPr sz="1100">
                <a:solidFill>
                  <a:srgbClr val="1B7837"/>
                </a:solidFill>
              </a:defRPr>
            </a:pPr>
            <a:r>
              <a:t>cost: +0.002 M params (a 1×1 conv)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Both share the existing BEV feature and detection stem — 'adding a task' became a head, not a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⑥ Temporal fusion — velocity becomes observable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single-frame perception cannot see motion; a streaming BEV can — without breaking TensorRT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Previous frame's raw BEV is ego-motion-warped into the current frame (affine_grid + grid_sample) and</a:t>
            </a:r>
          </a:p>
          <a:p>
            <a:pPr>
              <a:spcAft>
                <a:spcPts val="600"/>
              </a:spcAft>
              <a:defRPr sz="1300" b="0">
                <a:solidFill>
                  <a:srgbClr val="202830"/>
                </a:solidFill>
              </a:defRPr>
            </a:pPr>
            <a:r>
              <a:t>   – residual-fused with the current BEV — TensorRT-safe operators only, no RNN</a:t>
            </a:r>
          </a:p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Deployment: prev-BEV + warp matrix are graph INPUTS, current BEV an extra OUTPUT → static feed-forward</a:t>
            </a:r>
          </a:p>
          <a:p>
            <a:pPr>
              <a:spcAft>
                <a:spcPts val="600"/>
              </a:spcAft>
              <a:defRPr sz="1300" b="0">
                <a:solidFill>
                  <a:srgbClr val="1B7837"/>
                </a:solidFill>
              </a:defRPr>
            </a:pPr>
            <a:r>
              <a:t>   – cost: +0.19 M params, +5% step time (measured); ONNX/TensorRT-exportable as-is</a:t>
            </a:r>
          </a:p>
          <a:p>
            <a:pPr>
              <a:spcAft>
                <a:spcPts val="600"/>
              </a:spcAft>
              <a:defRPr sz="1600" b="0">
                <a:solidFill>
                  <a:srgbClr val="202830"/>
                </a:solidFill>
              </a:defRPr>
            </a:pPr>
            <a:r>
              <a:t>• Early effect (1 epoch): curve ADE 2.28 → 1.91 m; agent forecasting expected to gain most from motion cues</a:t>
            </a:r>
          </a:p>
          <a:p>
            <a:pPr>
              <a:spcAft>
                <a:spcPts val="600"/>
              </a:spcAft>
              <a:defRPr sz="1300" b="0">
                <a:solidFill>
                  <a:srgbClr val="606870"/>
                </a:solidFill>
              </a:defRPr>
            </a:pPr>
            <a:r>
              <a:t>   – Debugging note: a no_grad forward inside an autocast region cached detached fp16 weights and</a:t>
            </a:r>
          </a:p>
          <a:p>
            <a:pPr>
              <a:spcAft>
                <a:spcPts val="600"/>
              </a:spcAft>
              <a:defRPr sz="1300" b="0">
                <a:solidFill>
                  <a:srgbClr val="606870"/>
                </a:solidFill>
              </a:defRPr>
            </a:pPr>
            <a:r>
              <a:t>   – all backbone gradients under DDP — diagnosed with TORCH_DISTRIBUTED_DEBUG on a 2-GPU mini-run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Quantitative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06870"/>
                </a:solidFill>
              </a:defRPr>
            </a:pPr>
            <a:r>
              <a:t>held-out recording · every gain without a single human label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417320"/>
          <a:ext cx="101498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60"/>
                <a:gridCol w="1737360"/>
                <a:gridCol w="28346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02830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C9D9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BEV lane mIoU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capacity + data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2D-seg mIoU (21 cls)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ED head + KMAX 96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2D-seg lane 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coverage rasterise + weights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2D-seg pole 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3-scale detection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E2E curve 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0.72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curvature weighting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E2E curve ADE (temporal, ep0)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2.28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1.91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temporal fusion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Agent forecast 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2.15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new task (v21)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Model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26.8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38.5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02830"/>
                          </a:solidFill>
                        </a:defRPr>
                      </a:pPr>
                      <a:r>
                        <a:t>8 tasks + temporal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830"/>
                </a:solidFill>
              </a:defRPr>
            </a:pPr>
            <a:r>
              <a:t>Principles that generalised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Measure per-condition — aggregates hide the failures that matter (curves, ranges, rare classes)</a:t>
            </a:r>
          </a:p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Add the diagnostic metric with the fix — ADEc, per-range occupancy IoU, per-class detection counts</a:t>
            </a:r>
          </a:p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Deployment constraints are design inputs — TensorRT-safe ops shaped the temporal fusion, not the reverse</a:t>
            </a:r>
          </a:p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Capacity has a shape — parameters at low resolution, compute at high resolution</a:t>
            </a:r>
          </a:p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Watch the output, not just the loss — the scene-tail and ego-vehicle bugs were found in demo videos</a:t>
            </a:r>
          </a:p>
          <a:p>
            <a:pPr>
              <a:spcAft>
                <a:spcPts val="600"/>
              </a:spcAft>
              <a:defRPr sz="1800" b="0">
                <a:solidFill>
                  <a:srgbClr val="202830"/>
                </a:solidFill>
              </a:defRPr>
            </a:pPr>
            <a:r>
              <a:t>• Warm-start everything — 12 rounds, 4 new heads, temporal fusion, and never a cold restart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000" b="1">
                <a:solidFill>
                  <a:srgbClr val="202830"/>
                </a:solidFill>
              </a:defRPr>
            </a:pPr>
            <a:r>
              <a:t>From one task to eight — plus time</a:t>
            </a:r>
          </a:p>
          <a:p>
            <a:pPr algn="ctr">
              <a:spcAft>
                <a:spcPts val="1000"/>
              </a:spcAft>
              <a:defRPr sz="1000" b="0">
                <a:solidFill>
                  <a:srgbClr val="606870"/>
                </a:solidFill>
              </a:defRPr>
            </a:pPr>
          </a:p>
          <a:p>
            <a:pPr algn="ctr">
              <a:spcAft>
                <a:spcPts val="1000"/>
              </a:spcAft>
              <a:defRPr sz="2000" b="0">
                <a:solidFill>
                  <a:srgbClr val="0E6EB8"/>
                </a:solidFill>
              </a:defRPr>
            </a:pPr>
            <a:r>
              <a:t>a new task went from 'a labeling campaign' to 'a head and a GPU-day'</a:t>
            </a:r>
          </a:p>
          <a:p>
            <a:pPr algn="ctr">
              <a:spcAft>
                <a:spcPts val="1000"/>
              </a:spcAft>
              <a:defRPr sz="1000" b="0">
                <a:solidFill>
                  <a:srgbClr val="606870"/>
                </a:solidFill>
              </a:defRPr>
            </a:pPr>
          </a:p>
          <a:p>
            <a:pPr algn="ctr">
              <a:spcAft>
                <a:spcPts val="1000"/>
              </a:spcAft>
              <a:defRPr sz="2000" b="1">
                <a:solidFill>
                  <a:srgbClr val="202830"/>
                </a:solidFill>
              </a:defRPr>
            </a:pPr>
            <a:r>
              <a:t>github.com/tier4/METEOR</a:t>
            </a:r>
          </a:p>
          <a:p>
            <a:pPr algn="ctr">
              <a:spcAft>
                <a:spcPts val="1000"/>
              </a:spcAft>
              <a:defRPr sz="1500" b="1">
                <a:solidFill>
                  <a:srgbClr val="1B7837"/>
                </a:solidFill>
              </a:defRPr>
            </a:pPr>
            <a:r>
              <a:t>Labels by machines. Code by Claude Fable 5. Direction by humans.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